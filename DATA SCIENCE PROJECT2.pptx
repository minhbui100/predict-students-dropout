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handoutMasterIdLst>
    <p:handoutMasterId r:id="rId17"/>
  </p:handoutMasterIdLst>
  <p:sldIdLst>
    <p:sldId id="259" r:id="rId2"/>
    <p:sldId id="258" r:id="rId3"/>
    <p:sldId id="260" r:id="rId4"/>
    <p:sldId id="262" r:id="rId5"/>
    <p:sldId id="264" r:id="rId6"/>
    <p:sldId id="266" r:id="rId7"/>
    <p:sldId id="268" r:id="rId8"/>
    <p:sldId id="270" r:id="rId9"/>
    <p:sldId id="272" r:id="rId10"/>
    <p:sldId id="273" r:id="rId11"/>
    <p:sldId id="275" r:id="rId12"/>
    <p:sldId id="276" r:id="rId13"/>
    <p:sldId id="278" r:id="rId14"/>
    <p:sldId id="277" r:id="rId1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27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10"/>
    <p:restoredTop sz="96327"/>
  </p:normalViewPr>
  <p:slideViewPr>
    <p:cSldViewPr snapToGrid="0" snapToObjects="1">
      <p:cViewPr varScale="1">
        <p:scale>
          <a:sx n="89" d="100"/>
          <a:sy n="89" d="100"/>
        </p:scale>
        <p:origin x="576"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49F1B5-99C1-07D7-8EB5-43772CA2BD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21128AE-1CF8-34AC-695A-38D77B79B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101A59-B2DD-4BD1-9771-06E923D60418}" type="datetimeFigureOut">
              <a:rPr lang="en-US" smtClean="0"/>
              <a:t>11/29/2025</a:t>
            </a:fld>
            <a:endParaRPr lang="en-US"/>
          </a:p>
        </p:txBody>
      </p:sp>
      <p:sp>
        <p:nvSpPr>
          <p:cNvPr id="4" name="Footer Placeholder 3">
            <a:extLst>
              <a:ext uri="{FF2B5EF4-FFF2-40B4-BE49-F238E27FC236}">
                <a16:creationId xmlns:a16="http://schemas.microsoft.com/office/drawing/2014/main" id="{9689A5B2-8C5D-655E-B9EB-A07657CD4C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0906D9-6BEE-8E8F-F853-71B944B1ADB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CB8047-6D45-40D9-A4B4-3FE051D559D9}" type="slidenum">
              <a:rPr lang="en-US" smtClean="0"/>
              <a:t>‹#›</a:t>
            </a:fld>
            <a:endParaRPr lang="en-US"/>
          </a:p>
        </p:txBody>
      </p:sp>
    </p:spTree>
    <p:extLst>
      <p:ext uri="{BB962C8B-B14F-4D97-AF65-F5344CB8AC3E}">
        <p14:creationId xmlns:p14="http://schemas.microsoft.com/office/powerpoint/2010/main" val="19931022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7B796-42ED-4FE4-8FB1-52B645A459AD}"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C1D72-1A1B-49DC-9FB2-C2E04FC1C46A}" type="slidenum">
              <a:rPr lang="en-US" smtClean="0"/>
              <a:t>‹#›</a:t>
            </a:fld>
            <a:endParaRPr lang="en-US"/>
          </a:p>
        </p:txBody>
      </p:sp>
    </p:spTree>
    <p:extLst>
      <p:ext uri="{BB962C8B-B14F-4D97-AF65-F5344CB8AC3E}">
        <p14:creationId xmlns:p14="http://schemas.microsoft.com/office/powerpoint/2010/main" val="24047460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Rectangle 6"/>
          <p:cNvSpPr/>
          <p:nvPr userDrawn="1"/>
        </p:nvSpPr>
        <p:spPr>
          <a:xfrm>
            <a:off x="0" y="9"/>
            <a:ext cx="12192000" cy="822325"/>
          </a:xfrm>
          <a:prstGeom prst="rect">
            <a:avLst/>
          </a:prstGeom>
          <a:solidFill>
            <a:srgbClr val="D527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9" descr="Text&#10;&#10;Description automatically generated">
            <a:extLst>
              <a:ext uri="{FF2B5EF4-FFF2-40B4-BE49-F238E27FC236}">
                <a16:creationId xmlns:a16="http://schemas.microsoft.com/office/drawing/2014/main" id="{A8A90679-2173-D718-1A0E-2770C61C47C5}"/>
              </a:ext>
            </a:extLst>
          </p:cNvPr>
          <p:cNvPicPr>
            <a:picLocks noChangeAspect="1"/>
          </p:cNvPicPr>
          <p:nvPr userDrawn="1"/>
        </p:nvPicPr>
        <p:blipFill>
          <a:blip r:embed="rId2"/>
          <a:stretch>
            <a:fillRect/>
          </a:stretch>
        </p:blipFill>
        <p:spPr>
          <a:xfrm>
            <a:off x="4743451" y="144469"/>
            <a:ext cx="2705100" cy="533400"/>
          </a:xfrm>
          <a:prstGeom prst="rect">
            <a:avLst/>
          </a:prstGeom>
        </p:spPr>
      </p:pic>
      <p:sp>
        <p:nvSpPr>
          <p:cNvPr id="8" name="Date Placeholder 7">
            <a:extLst>
              <a:ext uri="{FF2B5EF4-FFF2-40B4-BE49-F238E27FC236}">
                <a16:creationId xmlns:a16="http://schemas.microsoft.com/office/drawing/2014/main" id="{490EF673-A387-616B-DEB8-DA4FE1AC7524}"/>
              </a:ext>
            </a:extLst>
          </p:cNvPr>
          <p:cNvSpPr>
            <a:spLocks noGrp="1"/>
          </p:cNvSpPr>
          <p:nvPr>
            <p:ph type="dt" sz="half" idx="10"/>
          </p:nvPr>
        </p:nvSpPr>
        <p:spPr/>
        <p:txBody>
          <a:bodyPr/>
          <a:lstStyle/>
          <a:p>
            <a:pPr>
              <a:defRPr/>
            </a:pPr>
            <a:endParaRPr lang="en-US"/>
          </a:p>
        </p:txBody>
      </p:sp>
      <p:sp>
        <p:nvSpPr>
          <p:cNvPr id="9" name="Footer Placeholder 8">
            <a:extLst>
              <a:ext uri="{FF2B5EF4-FFF2-40B4-BE49-F238E27FC236}">
                <a16:creationId xmlns:a16="http://schemas.microsoft.com/office/drawing/2014/main" id="{DACDF32D-CFF9-DAA7-0177-4150E6A13329}"/>
              </a:ext>
            </a:extLst>
          </p:cNvPr>
          <p:cNvSpPr>
            <a:spLocks noGrp="1"/>
          </p:cNvSpPr>
          <p:nvPr>
            <p:ph type="ftr" sz="quarter" idx="11"/>
          </p:nvPr>
        </p:nvSpPr>
        <p:spPr/>
        <p:txBody>
          <a:bodyPr/>
          <a:lstStyle/>
          <a:p>
            <a:pPr>
              <a:defRPr/>
            </a:pPr>
            <a:endParaRPr lang="en-US"/>
          </a:p>
        </p:txBody>
      </p:sp>
      <p:sp>
        <p:nvSpPr>
          <p:cNvPr id="11" name="Slide Number Placeholder 10">
            <a:extLst>
              <a:ext uri="{FF2B5EF4-FFF2-40B4-BE49-F238E27FC236}">
                <a16:creationId xmlns:a16="http://schemas.microsoft.com/office/drawing/2014/main" id="{CA0F49C1-DF8B-EA61-8DF2-056FBE3C0088}"/>
              </a:ext>
            </a:extLst>
          </p:cNvPr>
          <p:cNvSpPr>
            <a:spLocks noGrp="1"/>
          </p:cNvSpPr>
          <p:nvPr>
            <p:ph type="sldNum" sz="quarter" idx="12"/>
          </p:nvPr>
        </p:nvSpPr>
        <p:spPr/>
        <p:txBody>
          <a:bodyPr/>
          <a:lstStyle/>
          <a:p>
            <a:pPr>
              <a:defRPr/>
            </a:pPr>
            <a:fld id="{D1DBB386-4D84-4A75-AC7E-910C66A24D6F}" type="slidenum">
              <a:rPr lang="en-US" smtClean="0"/>
              <a:pPr>
                <a:defRPr/>
              </a:pPr>
              <a:t>‹#›</a:t>
            </a:fld>
            <a:endParaRPr lang="en-US"/>
          </a:p>
        </p:txBody>
      </p:sp>
    </p:spTree>
    <p:extLst>
      <p:ext uri="{BB962C8B-B14F-4D97-AF65-F5344CB8AC3E}">
        <p14:creationId xmlns:p14="http://schemas.microsoft.com/office/powerpoint/2010/main" val="92996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6400800"/>
            <a:ext cx="12192000" cy="457200"/>
          </a:xfrm>
          <a:prstGeom prst="rect">
            <a:avLst/>
          </a:prstGeom>
          <a:solidFill>
            <a:srgbClr val="D527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377" rtl="0" eaLnBrk="1" fontAlgn="auto" latinLnBrk="0" hangingPunct="1">
              <a:lnSpc>
                <a:spcPct val="100000"/>
              </a:lnSpc>
              <a:spcBef>
                <a:spcPts val="0"/>
              </a:spcBef>
              <a:spcAft>
                <a:spcPts val="0"/>
              </a:spcAft>
              <a:buClrTx/>
              <a:buSzTx/>
              <a:buFontTx/>
              <a:buNone/>
              <a:tabLst/>
              <a:defRPr/>
            </a:pPr>
            <a:r>
              <a:rPr lang="en-US" sz="1400" dirty="0">
                <a:latin typeface="Trebuchet MS" panose="020B0703020202090204" pitchFamily="34" charset="0"/>
              </a:rPr>
              <a:t>Natural Sciences and Mathematics</a:t>
            </a:r>
          </a:p>
        </p:txBody>
      </p:sp>
      <p:pic>
        <p:nvPicPr>
          <p:cNvPr id="5" name="Picture 4">
            <a:extLst>
              <a:ext uri="{FF2B5EF4-FFF2-40B4-BE49-F238E27FC236}">
                <a16:creationId xmlns:a16="http://schemas.microsoft.com/office/drawing/2014/main" id="{808075FB-B3F7-780A-ABCB-CD1AE2622DAA}"/>
              </a:ext>
            </a:extLst>
          </p:cNvPr>
          <p:cNvPicPr>
            <a:picLocks noChangeAspect="1"/>
          </p:cNvPicPr>
          <p:nvPr userDrawn="1"/>
        </p:nvPicPr>
        <p:blipFill>
          <a:blip r:embed="rId2"/>
          <a:stretch>
            <a:fillRect/>
          </a:stretch>
        </p:blipFill>
        <p:spPr>
          <a:xfrm>
            <a:off x="158499" y="6477428"/>
            <a:ext cx="328549" cy="303957"/>
          </a:xfrm>
          <a:prstGeom prst="rect">
            <a:avLst/>
          </a:prstGeom>
        </p:spPr>
      </p:pic>
      <p:sp>
        <p:nvSpPr>
          <p:cNvPr id="4" name="TextBox 3">
            <a:extLst>
              <a:ext uri="{FF2B5EF4-FFF2-40B4-BE49-F238E27FC236}">
                <a16:creationId xmlns:a16="http://schemas.microsoft.com/office/drawing/2014/main" id="{5A2C5BF8-2868-39E3-76D4-AEE7FD428D1C}"/>
              </a:ext>
            </a:extLst>
          </p:cNvPr>
          <p:cNvSpPr txBox="1"/>
          <p:nvPr userDrawn="1"/>
        </p:nvSpPr>
        <p:spPr>
          <a:xfrm>
            <a:off x="11430000" y="40414"/>
            <a:ext cx="690113" cy="369332"/>
          </a:xfrm>
          <a:prstGeom prst="rect">
            <a:avLst/>
          </a:prstGeom>
          <a:noFill/>
        </p:spPr>
        <p:txBody>
          <a:bodyPr wrap="square" rtlCol="0">
            <a:spAutoFit/>
          </a:bodyPr>
          <a:lstStyle/>
          <a:p>
            <a:fld id="{4F92F547-F221-4414-B9B2-0F8A00BF0966}" type="slidenum">
              <a:rPr lang="en-US" smtClean="0"/>
              <a:t>‹#›</a:t>
            </a:fld>
            <a:endParaRPr lang="en-US" dirty="0"/>
          </a:p>
        </p:txBody>
      </p:sp>
    </p:spTree>
    <p:extLst>
      <p:ext uri="{BB962C8B-B14F-4D97-AF65-F5344CB8AC3E}">
        <p14:creationId xmlns:p14="http://schemas.microsoft.com/office/powerpoint/2010/main" val="39836298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9"/>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9"/>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Trebuchet MS" panose="020B0603020202020204" pitchFamily="34" charset="0"/>
              </a:defRPr>
            </a:lvl1pPr>
          </a:lstStyle>
          <a:p>
            <a:pPr>
              <a:defRPr/>
            </a:pPr>
            <a:endParaRPr lang="en-US"/>
          </a:p>
        </p:txBody>
      </p:sp>
      <p:sp>
        <p:nvSpPr>
          <p:cNvPr id="5" name="Footer Placeholder 4"/>
          <p:cNvSpPr>
            <a:spLocks noGrp="1"/>
          </p:cNvSpPr>
          <p:nvPr>
            <p:ph type="ftr" sz="quarter" idx="3"/>
          </p:nvPr>
        </p:nvSpPr>
        <p:spPr>
          <a:xfrm>
            <a:off x="4038600" y="6356359"/>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Trebuchet MS" panose="020B0603020202020204" pitchFamily="34" charset="0"/>
              </a:defRPr>
            </a:lvl1pPr>
          </a:lstStyle>
          <a:p>
            <a:pPr>
              <a:defRPr/>
            </a:pPr>
            <a:endParaRPr lang="en-US"/>
          </a:p>
        </p:txBody>
      </p:sp>
      <p:sp>
        <p:nvSpPr>
          <p:cNvPr id="6" name="Slide Number Placeholder 5"/>
          <p:cNvSpPr>
            <a:spLocks noGrp="1"/>
          </p:cNvSpPr>
          <p:nvPr>
            <p:ph type="sldNum" sz="quarter" idx="4"/>
          </p:nvPr>
        </p:nvSpPr>
        <p:spPr>
          <a:xfrm>
            <a:off x="8438072" y="559408"/>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Trebuchet MS" panose="020B0603020202020204" pitchFamily="34" charset="0"/>
              </a:defRPr>
            </a:lvl1pPr>
          </a:lstStyle>
          <a:p>
            <a:pPr>
              <a:defRPr/>
            </a:pPr>
            <a:fld id="{D1DBB386-4D84-4A75-AC7E-910C66A24D6F}"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Trebuchet MS" panose="020B0603020202020204" pitchFamily="34" charset="0"/>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189" algn="l" rtl="0" eaLnBrk="1" fontAlgn="base" hangingPunct="1">
        <a:lnSpc>
          <a:spcPct val="90000"/>
        </a:lnSpc>
        <a:spcBef>
          <a:spcPct val="0"/>
        </a:spcBef>
        <a:spcAft>
          <a:spcPct val="0"/>
        </a:spcAft>
        <a:defRPr sz="4400">
          <a:solidFill>
            <a:schemeClr val="tx1"/>
          </a:solidFill>
          <a:latin typeface="Calibri Light" charset="0"/>
        </a:defRPr>
      </a:lvl6pPr>
      <a:lvl7pPr marL="914377" algn="l" rtl="0" eaLnBrk="1" fontAlgn="base" hangingPunct="1">
        <a:lnSpc>
          <a:spcPct val="90000"/>
        </a:lnSpc>
        <a:spcBef>
          <a:spcPct val="0"/>
        </a:spcBef>
        <a:spcAft>
          <a:spcPct val="0"/>
        </a:spcAft>
        <a:defRPr sz="4400">
          <a:solidFill>
            <a:schemeClr val="tx1"/>
          </a:solidFill>
          <a:latin typeface="Calibri Light" charset="0"/>
        </a:defRPr>
      </a:lvl7pPr>
      <a:lvl8pPr marL="1371566" algn="l" rtl="0" eaLnBrk="1" fontAlgn="base" hangingPunct="1">
        <a:lnSpc>
          <a:spcPct val="90000"/>
        </a:lnSpc>
        <a:spcBef>
          <a:spcPct val="0"/>
        </a:spcBef>
        <a:spcAft>
          <a:spcPct val="0"/>
        </a:spcAft>
        <a:defRPr sz="4400">
          <a:solidFill>
            <a:schemeClr val="tx1"/>
          </a:solidFill>
          <a:latin typeface="Calibri Light" charset="0"/>
        </a:defRPr>
      </a:lvl8pPr>
      <a:lvl9pPr marL="1828754"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594" indent="-228594"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783" indent="-228594"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2971" indent="-228594"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160" indent="-228594"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Trebuchet MS" panose="020B0603020202020204" pitchFamily="34" charset="0"/>
          <a:ea typeface="+mn-ea"/>
          <a:cs typeface="+mn-cs"/>
        </a:defRPr>
      </a:lvl4pPr>
      <a:lvl5pPr marL="2057349" indent="-228594"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Trebuchet MS" panose="020B060302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9F85A214-0113-BE46-A75D-298E048CE54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388213" y="2804886"/>
            <a:ext cx="6889387" cy="435002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908A4BB5-3246-A6FC-2B35-41111C277674}"/>
              </a:ext>
            </a:extLst>
          </p:cNvPr>
          <p:cNvSpPr>
            <a:spLocks noGrp="1"/>
          </p:cNvSpPr>
          <p:nvPr>
            <p:ph type="ctrTitle"/>
          </p:nvPr>
        </p:nvSpPr>
        <p:spPr/>
        <p:txBody>
          <a:bodyPr/>
          <a:lstStyle/>
          <a:p>
            <a:r>
              <a:rPr lang="en-US" sz="4000" dirty="0"/>
              <a:t>DATA SCIENCE PROJECT</a:t>
            </a:r>
            <a:br>
              <a:rPr lang="en-US" dirty="0"/>
            </a:br>
            <a:r>
              <a:rPr lang="en-US" sz="5000" b="1" dirty="0"/>
              <a:t>PREDICT STUDENTS’ DROPOUT AND ACADEMIC SUCCESS</a:t>
            </a:r>
          </a:p>
        </p:txBody>
      </p:sp>
      <p:sp>
        <p:nvSpPr>
          <p:cNvPr id="5" name="Subtitle 4">
            <a:extLst>
              <a:ext uri="{FF2B5EF4-FFF2-40B4-BE49-F238E27FC236}">
                <a16:creationId xmlns:a16="http://schemas.microsoft.com/office/drawing/2014/main" id="{899AB53B-CE4C-AB60-2676-6FDE5ACCDFCB}"/>
              </a:ext>
            </a:extLst>
          </p:cNvPr>
          <p:cNvSpPr>
            <a:spLocks noGrp="1"/>
          </p:cNvSpPr>
          <p:nvPr>
            <p:ph type="subTitle" idx="1"/>
          </p:nvPr>
        </p:nvSpPr>
        <p:spPr>
          <a:xfrm>
            <a:off x="1524000" y="4647066"/>
            <a:ext cx="9144000" cy="1655762"/>
          </a:xfrm>
        </p:spPr>
        <p:txBody>
          <a:bodyPr/>
          <a:lstStyle/>
          <a:p>
            <a:pPr algn="l"/>
            <a:r>
              <a:rPr lang="en-US" dirty="0"/>
              <a:t>Team </a:t>
            </a:r>
            <a:r>
              <a:rPr lang="en-US" dirty="0" err="1"/>
              <a:t>PathToScholar</a:t>
            </a:r>
            <a:r>
              <a:rPr lang="en-US" dirty="0"/>
              <a:t> G-00015</a:t>
            </a:r>
          </a:p>
          <a:p>
            <a:pPr algn="l"/>
            <a:r>
              <a:rPr lang="en-US" dirty="0"/>
              <a:t>Hoang Minh Bui </a:t>
            </a:r>
          </a:p>
          <a:p>
            <a:pPr algn="l"/>
            <a:r>
              <a:rPr lang="en-US" dirty="0"/>
              <a:t>Caden L Carrier-Rieger</a:t>
            </a:r>
          </a:p>
        </p:txBody>
      </p:sp>
      <p:sp>
        <p:nvSpPr>
          <p:cNvPr id="2" name="Slide Number Placeholder 1">
            <a:extLst>
              <a:ext uri="{FF2B5EF4-FFF2-40B4-BE49-F238E27FC236}">
                <a16:creationId xmlns:a16="http://schemas.microsoft.com/office/drawing/2014/main" id="{5A39DF35-F0AF-CF90-E265-15FE5B3F31AB}"/>
              </a:ext>
            </a:extLst>
          </p:cNvPr>
          <p:cNvSpPr>
            <a:spLocks noGrp="1"/>
          </p:cNvSpPr>
          <p:nvPr>
            <p:ph type="sldNum" sz="quarter" idx="12"/>
          </p:nvPr>
        </p:nvSpPr>
        <p:spPr>
          <a:xfrm>
            <a:off x="9188570" y="171485"/>
            <a:ext cx="2743200" cy="365125"/>
          </a:xfrm>
        </p:spPr>
        <p:txBody>
          <a:bodyPr/>
          <a:lstStyle/>
          <a:p>
            <a:pPr>
              <a:defRPr/>
            </a:pPr>
            <a:fld id="{D1DBB386-4D84-4A75-AC7E-910C66A24D6F}" type="slidenum">
              <a:rPr lang="en-US" smtClean="0">
                <a:solidFill>
                  <a:schemeClr val="tx1"/>
                </a:solidFill>
              </a:rPr>
              <a:pPr>
                <a:defRPr/>
              </a:pPr>
              <a:t>1</a:t>
            </a:fld>
            <a:endParaRPr lang="en-US" dirty="0">
              <a:solidFill>
                <a:schemeClr val="tx1"/>
              </a:solidFill>
            </a:endParaRPr>
          </a:p>
        </p:txBody>
      </p:sp>
    </p:spTree>
    <p:extLst>
      <p:ext uri="{BB962C8B-B14F-4D97-AF65-F5344CB8AC3E}">
        <p14:creationId xmlns:p14="http://schemas.microsoft.com/office/powerpoint/2010/main" val="3056245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475B8-FF12-BC82-F921-7CC480276F17}"/>
              </a:ext>
            </a:extLst>
          </p:cNvPr>
          <p:cNvSpPr>
            <a:spLocks noGrp="1"/>
          </p:cNvSpPr>
          <p:nvPr>
            <p:ph type="title"/>
          </p:nvPr>
        </p:nvSpPr>
        <p:spPr/>
        <p:txBody>
          <a:bodyPr/>
          <a:lstStyle/>
          <a:p>
            <a:r>
              <a:rPr lang="en-US" b="1" dirty="0"/>
              <a:t>CONTENTS</a:t>
            </a:r>
          </a:p>
        </p:txBody>
      </p:sp>
      <p:sp>
        <p:nvSpPr>
          <p:cNvPr id="3" name="Content Placeholder 2">
            <a:extLst>
              <a:ext uri="{FF2B5EF4-FFF2-40B4-BE49-F238E27FC236}">
                <a16:creationId xmlns:a16="http://schemas.microsoft.com/office/drawing/2014/main" id="{C42741B2-B032-82B6-CAB7-5AD6F55F3EAF}"/>
              </a:ext>
            </a:extLst>
          </p:cNvPr>
          <p:cNvSpPr>
            <a:spLocks noGrp="1"/>
          </p:cNvSpPr>
          <p:nvPr>
            <p:ph idx="1"/>
          </p:nvPr>
        </p:nvSpPr>
        <p:spPr>
          <a:xfrm>
            <a:off x="562429" y="1412988"/>
            <a:ext cx="10515600" cy="4351338"/>
          </a:xfrm>
        </p:spPr>
        <p:txBody>
          <a:bodyPr/>
          <a:lstStyle/>
          <a:p>
            <a:pPr marL="514350" indent="-514350">
              <a:buAutoNum type="arabicPeriod"/>
            </a:pPr>
            <a:r>
              <a:rPr lang="en-US" dirty="0"/>
              <a:t>Introduction</a:t>
            </a:r>
          </a:p>
          <a:p>
            <a:pPr marL="0" indent="0">
              <a:buNone/>
            </a:pPr>
            <a:r>
              <a:rPr lang="en-US" dirty="0"/>
              <a:t>	a. Objectives</a:t>
            </a:r>
          </a:p>
          <a:p>
            <a:pPr marL="0" indent="0">
              <a:buNone/>
            </a:pPr>
            <a:r>
              <a:rPr lang="en-US" dirty="0"/>
              <a:t>	b. About the dataset </a:t>
            </a:r>
          </a:p>
          <a:p>
            <a:pPr marL="0" indent="0">
              <a:buNone/>
            </a:pPr>
            <a:r>
              <a:rPr lang="en-US" dirty="0"/>
              <a:t>2. Methods</a:t>
            </a:r>
          </a:p>
          <a:p>
            <a:pPr marL="0" indent="0">
              <a:buNone/>
            </a:pPr>
            <a:r>
              <a:rPr lang="en-US" dirty="0"/>
              <a:t>	a. Data processing</a:t>
            </a:r>
          </a:p>
          <a:p>
            <a:pPr marL="0" indent="0">
              <a:buNone/>
            </a:pPr>
            <a:r>
              <a:rPr lang="en-US" dirty="0"/>
              <a:t>	b. SVM</a:t>
            </a:r>
          </a:p>
          <a:p>
            <a:pPr marL="0" indent="0">
              <a:buNone/>
            </a:pPr>
            <a:r>
              <a:rPr lang="en-US" dirty="0"/>
              <a:t>	c. MLP Classifier</a:t>
            </a:r>
          </a:p>
          <a:p>
            <a:pPr marL="0" indent="0">
              <a:buNone/>
            </a:pPr>
            <a:r>
              <a:rPr lang="en-US" dirty="0"/>
              <a:t>	d. Multiple-layered </a:t>
            </a:r>
            <a:r>
              <a:rPr lang="en-US" dirty="0" err="1"/>
              <a:t>Tensorflow</a:t>
            </a:r>
            <a:r>
              <a:rPr lang="en-US" dirty="0"/>
              <a:t> </a:t>
            </a:r>
            <a:r>
              <a:rPr lang="en-US" dirty="0" err="1"/>
              <a:t>Keras</a:t>
            </a:r>
            <a:r>
              <a:rPr lang="en-US" dirty="0"/>
              <a:t> Neural Network</a:t>
            </a:r>
          </a:p>
          <a:p>
            <a:pPr marL="0" indent="0">
              <a:buNone/>
            </a:pPr>
            <a:r>
              <a:rPr lang="en-US" dirty="0"/>
              <a:t>3. Results</a:t>
            </a:r>
          </a:p>
          <a:p>
            <a:pPr marL="0" indent="0">
              <a:buNone/>
            </a:pPr>
            <a:r>
              <a:rPr lang="en-US" dirty="0"/>
              <a:t>4. Conclusion</a:t>
            </a:r>
          </a:p>
        </p:txBody>
      </p:sp>
    </p:spTree>
    <p:extLst>
      <p:ext uri="{BB962C8B-B14F-4D97-AF65-F5344CB8AC3E}">
        <p14:creationId xmlns:p14="http://schemas.microsoft.com/office/powerpoint/2010/main" val="3370438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47B90-E9B3-B595-3398-C06969420573}"/>
              </a:ext>
            </a:extLst>
          </p:cNvPr>
          <p:cNvSpPr>
            <a:spLocks noGrp="1"/>
          </p:cNvSpPr>
          <p:nvPr>
            <p:ph type="title"/>
          </p:nvPr>
        </p:nvSpPr>
        <p:spPr/>
        <p:txBody>
          <a:bodyPr/>
          <a:lstStyle/>
          <a:p>
            <a:r>
              <a:rPr lang="en-US" b="1" dirty="0"/>
              <a:t>1. Introduction</a:t>
            </a:r>
            <a:br>
              <a:rPr lang="en-US" b="1" dirty="0"/>
            </a:br>
            <a:r>
              <a:rPr lang="en-US" sz="3200" b="1" dirty="0"/>
              <a:t>a. Objectives</a:t>
            </a:r>
          </a:p>
        </p:txBody>
      </p:sp>
      <p:pic>
        <p:nvPicPr>
          <p:cNvPr id="4" name="Content Placeholder 3" descr="A pie chart with numbers and text&#10;&#10;AI-generated content may be incorrect.">
            <a:extLst>
              <a:ext uri="{FF2B5EF4-FFF2-40B4-BE49-F238E27FC236}">
                <a16:creationId xmlns:a16="http://schemas.microsoft.com/office/drawing/2014/main" id="{9A26BDD6-15B8-3EF6-8B45-95F08C400950}"/>
              </a:ext>
            </a:extLst>
          </p:cNvPr>
          <p:cNvPicPr>
            <a:picLocks noGrp="1" noChangeAspect="1"/>
          </p:cNvPicPr>
          <p:nvPr>
            <p:ph idx="1"/>
          </p:nvPr>
        </p:nvPicPr>
        <p:blipFill rotWithShape="1">
          <a:blip r:embed="rId2"/>
          <a:srcRect b="7461"/>
          <a:stretch>
            <a:fillRect/>
          </a:stretch>
        </p:blipFill>
        <p:spPr>
          <a:xfrm>
            <a:off x="838199" y="1690692"/>
            <a:ext cx="5370825" cy="4681080"/>
          </a:xfrm>
          <a:prstGeom prst="rect">
            <a:avLst/>
          </a:prstGeom>
        </p:spPr>
      </p:pic>
      <p:sp>
        <p:nvSpPr>
          <p:cNvPr id="6" name="TextBox 5">
            <a:extLst>
              <a:ext uri="{FF2B5EF4-FFF2-40B4-BE49-F238E27FC236}">
                <a16:creationId xmlns:a16="http://schemas.microsoft.com/office/drawing/2014/main" id="{4EA10592-1B44-9F24-88BC-350A8D679612}"/>
              </a:ext>
            </a:extLst>
          </p:cNvPr>
          <p:cNvSpPr txBox="1"/>
          <p:nvPr/>
        </p:nvSpPr>
        <p:spPr>
          <a:xfrm>
            <a:off x="7173955" y="3569567"/>
            <a:ext cx="4510045" cy="1015663"/>
          </a:xfrm>
          <a:prstGeom prst="rect">
            <a:avLst/>
          </a:prstGeom>
          <a:noFill/>
        </p:spPr>
        <p:txBody>
          <a:bodyPr wrap="square">
            <a:spAutoFit/>
          </a:bodyPr>
          <a:lstStyle/>
          <a:p>
            <a:r>
              <a:rPr lang="en-US" sz="2000" dirty="0"/>
              <a:t>The target variable represents a student’s </a:t>
            </a:r>
            <a:r>
              <a:rPr lang="en-US" sz="2000" b="1" dirty="0"/>
              <a:t>final academic status</a:t>
            </a:r>
            <a:r>
              <a:rPr lang="en-US" sz="2000" dirty="0"/>
              <a:t> at the end of the normal duration of their degree program.</a:t>
            </a:r>
          </a:p>
        </p:txBody>
      </p:sp>
    </p:spTree>
    <p:extLst>
      <p:ext uri="{BB962C8B-B14F-4D97-AF65-F5344CB8AC3E}">
        <p14:creationId xmlns:p14="http://schemas.microsoft.com/office/powerpoint/2010/main" val="69963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83E4B-B133-C821-95A5-CA2228D5F3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33063-A471-437A-66FC-00ED6EB88BA9}"/>
              </a:ext>
            </a:extLst>
          </p:cNvPr>
          <p:cNvSpPr>
            <a:spLocks noGrp="1"/>
          </p:cNvSpPr>
          <p:nvPr>
            <p:ph type="title"/>
          </p:nvPr>
        </p:nvSpPr>
        <p:spPr/>
        <p:txBody>
          <a:bodyPr/>
          <a:lstStyle/>
          <a:p>
            <a:r>
              <a:rPr lang="en-US" b="1" dirty="0"/>
              <a:t>1. Introduction</a:t>
            </a:r>
            <a:br>
              <a:rPr lang="en-US" b="1" dirty="0"/>
            </a:br>
            <a:r>
              <a:rPr lang="en-US" sz="3200" b="1" dirty="0"/>
              <a:t>a. Objectives</a:t>
            </a:r>
          </a:p>
        </p:txBody>
      </p:sp>
      <p:sp>
        <p:nvSpPr>
          <p:cNvPr id="3" name="Content Placeholder 2">
            <a:extLst>
              <a:ext uri="{FF2B5EF4-FFF2-40B4-BE49-F238E27FC236}">
                <a16:creationId xmlns:a16="http://schemas.microsoft.com/office/drawing/2014/main" id="{AB9BDC16-B71A-9B22-2B3C-F1BDE7E5B461}"/>
              </a:ext>
            </a:extLst>
          </p:cNvPr>
          <p:cNvSpPr>
            <a:spLocks noGrp="1"/>
          </p:cNvSpPr>
          <p:nvPr>
            <p:ph idx="1"/>
          </p:nvPr>
        </p:nvSpPr>
        <p:spPr>
          <a:xfrm>
            <a:off x="838200" y="1825625"/>
            <a:ext cx="10947400" cy="4351338"/>
          </a:xfrm>
        </p:spPr>
        <p:txBody>
          <a:bodyPr/>
          <a:lstStyle/>
          <a:p>
            <a:pPr marL="0" indent="0">
              <a:buNone/>
            </a:pPr>
            <a:r>
              <a:rPr lang="en-US" dirty="0"/>
              <a:t>We want to contribute to the reduction of academic dropout and failure in higher education</a:t>
            </a:r>
          </a:p>
          <a:p>
            <a:pPr>
              <a:buFontTx/>
              <a:buChar char="-"/>
            </a:pPr>
            <a:r>
              <a:rPr lang="en-US" dirty="0"/>
              <a:t>Analyze this dataset</a:t>
            </a:r>
          </a:p>
          <a:p>
            <a:pPr>
              <a:buFontTx/>
              <a:buChar char="-"/>
            </a:pPr>
            <a:r>
              <a:rPr lang="en-US" dirty="0"/>
              <a:t>Build models to predict</a:t>
            </a:r>
          </a:p>
          <a:p>
            <a:pPr>
              <a:buFontTx/>
              <a:buChar char="-"/>
            </a:pPr>
            <a:r>
              <a:rPr lang="en-US" dirty="0"/>
              <a:t>Find top 10 important features affecting academic performance</a:t>
            </a:r>
          </a:p>
        </p:txBody>
      </p:sp>
    </p:spTree>
    <p:extLst>
      <p:ext uri="{BB962C8B-B14F-4D97-AF65-F5344CB8AC3E}">
        <p14:creationId xmlns:p14="http://schemas.microsoft.com/office/powerpoint/2010/main" val="896306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DFBD1-892A-CC5B-F10B-3287E4F0E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534E9-6BDE-752F-135D-9750B1F8E35F}"/>
              </a:ext>
            </a:extLst>
          </p:cNvPr>
          <p:cNvSpPr>
            <a:spLocks noGrp="1"/>
          </p:cNvSpPr>
          <p:nvPr>
            <p:ph type="title"/>
          </p:nvPr>
        </p:nvSpPr>
        <p:spPr/>
        <p:txBody>
          <a:bodyPr/>
          <a:lstStyle/>
          <a:p>
            <a:r>
              <a:rPr lang="en-US" b="1" dirty="0"/>
              <a:t>1. Introduction</a:t>
            </a:r>
            <a:br>
              <a:rPr lang="en-US" b="1" dirty="0"/>
            </a:br>
            <a:r>
              <a:rPr lang="en-US" sz="3200" b="1" dirty="0"/>
              <a:t>b. About the Dataset</a:t>
            </a:r>
          </a:p>
        </p:txBody>
      </p:sp>
      <p:sp>
        <p:nvSpPr>
          <p:cNvPr id="3" name="Content Placeholder 2">
            <a:extLst>
              <a:ext uri="{FF2B5EF4-FFF2-40B4-BE49-F238E27FC236}">
                <a16:creationId xmlns:a16="http://schemas.microsoft.com/office/drawing/2014/main" id="{4A7EA764-252A-244C-F729-64DEB9911869}"/>
              </a:ext>
            </a:extLst>
          </p:cNvPr>
          <p:cNvSpPr>
            <a:spLocks noGrp="1"/>
          </p:cNvSpPr>
          <p:nvPr>
            <p:ph idx="1"/>
          </p:nvPr>
        </p:nvSpPr>
        <p:spPr>
          <a:xfrm>
            <a:off x="838200" y="1825625"/>
            <a:ext cx="10947400" cy="4351338"/>
          </a:xfrm>
        </p:spPr>
        <p:txBody>
          <a:bodyPr/>
          <a:lstStyle/>
          <a:p>
            <a:pPr>
              <a:buFontTx/>
              <a:buChar char="-"/>
            </a:pPr>
            <a:r>
              <a:rPr lang="en-US" dirty="0"/>
              <a:t>The dataset is related to students enrolled in different undergraduate degrees</a:t>
            </a:r>
          </a:p>
          <a:p>
            <a:pPr>
              <a:buFontTx/>
              <a:buChar char="-"/>
            </a:pPr>
            <a:r>
              <a:rPr lang="en-US" dirty="0"/>
              <a:t>4424 instances</a:t>
            </a:r>
          </a:p>
          <a:p>
            <a:pPr>
              <a:buFontTx/>
              <a:buChar char="-"/>
            </a:pPr>
            <a:r>
              <a:rPr lang="en-US" dirty="0"/>
              <a:t>36 features</a:t>
            </a:r>
          </a:p>
        </p:txBody>
      </p:sp>
    </p:spTree>
    <p:extLst>
      <p:ext uri="{BB962C8B-B14F-4D97-AF65-F5344CB8AC3E}">
        <p14:creationId xmlns:p14="http://schemas.microsoft.com/office/powerpoint/2010/main" val="3110717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FF671-7344-7694-1CFA-924BB3DFF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6395C-26E7-A41F-6E54-920E70AD36B2}"/>
              </a:ext>
            </a:extLst>
          </p:cNvPr>
          <p:cNvSpPr>
            <a:spLocks noGrp="1"/>
          </p:cNvSpPr>
          <p:nvPr>
            <p:ph type="title"/>
          </p:nvPr>
        </p:nvSpPr>
        <p:spPr/>
        <p:txBody>
          <a:bodyPr/>
          <a:lstStyle/>
          <a:p>
            <a:r>
              <a:rPr lang="en-US" b="1" dirty="0"/>
              <a:t>2. Methods</a:t>
            </a:r>
            <a:br>
              <a:rPr lang="en-US" b="1" dirty="0"/>
            </a:br>
            <a:r>
              <a:rPr lang="en-US" sz="3200" b="1" dirty="0"/>
              <a:t>a. Data Processing</a:t>
            </a:r>
          </a:p>
        </p:txBody>
      </p:sp>
      <p:sp>
        <p:nvSpPr>
          <p:cNvPr id="3" name="Content Placeholder 2">
            <a:extLst>
              <a:ext uri="{FF2B5EF4-FFF2-40B4-BE49-F238E27FC236}">
                <a16:creationId xmlns:a16="http://schemas.microsoft.com/office/drawing/2014/main" id="{2C595EAA-D8C1-F150-4784-81E91FC8DD83}"/>
              </a:ext>
            </a:extLst>
          </p:cNvPr>
          <p:cNvSpPr>
            <a:spLocks noGrp="1"/>
          </p:cNvSpPr>
          <p:nvPr>
            <p:ph idx="1"/>
          </p:nvPr>
        </p:nvSpPr>
        <p:spPr>
          <a:xfrm>
            <a:off x="838200" y="1506448"/>
            <a:ext cx="10947400" cy="4351338"/>
          </a:xfrm>
        </p:spPr>
        <p:txBody>
          <a:bodyPr/>
          <a:lstStyle/>
          <a:p>
            <a:pPr marL="0" indent="0">
              <a:buNone/>
            </a:pPr>
            <a:r>
              <a:rPr lang="en-US" dirty="0"/>
              <a:t>Our data preprocessing involved:</a:t>
            </a:r>
          </a:p>
          <a:p>
            <a:pPr marL="0" indent="0">
              <a:buNone/>
            </a:pPr>
            <a:r>
              <a:rPr lang="en-US" dirty="0"/>
              <a:t>   </a:t>
            </a:r>
            <a:r>
              <a:rPr lang="en-US" sz="2400" dirty="0"/>
              <a:t>- Train and test split with a 20% split</a:t>
            </a:r>
          </a:p>
          <a:p>
            <a:pPr marL="0" indent="0">
              <a:buNone/>
            </a:pPr>
            <a:r>
              <a:rPr lang="en-US" sz="2400" dirty="0"/>
              <a:t>   - Standard scaling the X train and test variables</a:t>
            </a:r>
          </a:p>
          <a:p>
            <a:pPr marL="0" indent="0">
              <a:buNone/>
            </a:pPr>
            <a:r>
              <a:rPr lang="en-US" sz="2400" dirty="0"/>
              <a:t>   - Combined the graduate and enrolled target variables</a:t>
            </a:r>
          </a:p>
          <a:p>
            <a:pPr marL="0" indent="0">
              <a:buNone/>
            </a:pPr>
            <a:r>
              <a:rPr lang="en-US" sz="2400" dirty="0"/>
              <a:t>   - Set target variables to integers: Graduate is 1 and Dropout is 0</a:t>
            </a:r>
          </a:p>
          <a:p>
            <a:pPr marL="0" indent="0">
              <a:buNone/>
            </a:pPr>
            <a:r>
              <a:rPr lang="en-US" dirty="0"/>
              <a:t>	</a:t>
            </a:r>
          </a:p>
        </p:txBody>
      </p:sp>
      <p:pic>
        <p:nvPicPr>
          <p:cNvPr id="5" name="Picture 4" descr="A graph of a number of blue squares">
            <a:extLst>
              <a:ext uri="{FF2B5EF4-FFF2-40B4-BE49-F238E27FC236}">
                <a16:creationId xmlns:a16="http://schemas.microsoft.com/office/drawing/2014/main" id="{400633E6-8D2C-44A3-A10C-2EFB2C09A4E6}"/>
              </a:ext>
            </a:extLst>
          </p:cNvPr>
          <p:cNvPicPr>
            <a:picLocks noChangeAspect="1"/>
          </p:cNvPicPr>
          <p:nvPr/>
        </p:nvPicPr>
        <p:blipFill>
          <a:blip r:embed="rId2"/>
          <a:stretch>
            <a:fillRect/>
          </a:stretch>
        </p:blipFill>
        <p:spPr>
          <a:xfrm>
            <a:off x="3761233" y="3887659"/>
            <a:ext cx="4229737" cy="2182522"/>
          </a:xfrm>
          <a:prstGeom prst="rect">
            <a:avLst/>
          </a:prstGeom>
        </p:spPr>
      </p:pic>
      <p:pic>
        <p:nvPicPr>
          <p:cNvPr id="7" name="Picture 6" descr="A pie chart with text&#10;&#10;AI-generated content may be incorrect.">
            <a:extLst>
              <a:ext uri="{FF2B5EF4-FFF2-40B4-BE49-F238E27FC236}">
                <a16:creationId xmlns:a16="http://schemas.microsoft.com/office/drawing/2014/main" id="{DAE49C97-A88B-46BB-8341-70E9041E0909}"/>
              </a:ext>
            </a:extLst>
          </p:cNvPr>
          <p:cNvPicPr>
            <a:picLocks noChangeAspect="1"/>
          </p:cNvPicPr>
          <p:nvPr/>
        </p:nvPicPr>
        <p:blipFill>
          <a:blip r:embed="rId3"/>
          <a:stretch>
            <a:fillRect/>
          </a:stretch>
        </p:blipFill>
        <p:spPr>
          <a:xfrm>
            <a:off x="8430768" y="3813048"/>
            <a:ext cx="2393270" cy="2469527"/>
          </a:xfrm>
          <a:prstGeom prst="rect">
            <a:avLst/>
          </a:prstGeom>
        </p:spPr>
      </p:pic>
      <p:sp>
        <p:nvSpPr>
          <p:cNvPr id="8" name="TextBox 7">
            <a:extLst>
              <a:ext uri="{FF2B5EF4-FFF2-40B4-BE49-F238E27FC236}">
                <a16:creationId xmlns:a16="http://schemas.microsoft.com/office/drawing/2014/main" id="{8112ECDE-87F2-C45C-E7D9-B1AAA3229951}"/>
              </a:ext>
            </a:extLst>
          </p:cNvPr>
          <p:cNvSpPr txBox="1"/>
          <p:nvPr/>
        </p:nvSpPr>
        <p:spPr>
          <a:xfrm>
            <a:off x="838200" y="4178808"/>
            <a:ext cx="2864235" cy="923330"/>
          </a:xfrm>
          <a:prstGeom prst="rect">
            <a:avLst/>
          </a:prstGeom>
          <a:noFill/>
        </p:spPr>
        <p:txBody>
          <a:bodyPr wrap="square" rtlCol="0">
            <a:spAutoFit/>
          </a:bodyPr>
          <a:lstStyle/>
          <a:p>
            <a:r>
              <a:rPr lang="en-US" dirty="0"/>
              <a:t>Example of what the changes look like after preprocessing</a:t>
            </a:r>
          </a:p>
        </p:txBody>
      </p:sp>
    </p:spTree>
    <p:extLst>
      <p:ext uri="{BB962C8B-B14F-4D97-AF65-F5344CB8AC3E}">
        <p14:creationId xmlns:p14="http://schemas.microsoft.com/office/powerpoint/2010/main" val="1568555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382C-299A-17D9-B684-939270AD9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F1848-33F6-419F-47EF-D033FAF3A2C6}"/>
              </a:ext>
            </a:extLst>
          </p:cNvPr>
          <p:cNvSpPr>
            <a:spLocks noGrp="1"/>
          </p:cNvSpPr>
          <p:nvPr>
            <p:ph type="title"/>
          </p:nvPr>
        </p:nvSpPr>
        <p:spPr/>
        <p:txBody>
          <a:bodyPr/>
          <a:lstStyle/>
          <a:p>
            <a:r>
              <a:rPr lang="en-US" b="1" dirty="0"/>
              <a:t>2. Methods</a:t>
            </a:r>
            <a:br>
              <a:rPr lang="en-US" b="1" dirty="0"/>
            </a:br>
            <a:r>
              <a:rPr lang="en-US" sz="3200" b="1" dirty="0"/>
              <a:t>b. SVM</a:t>
            </a:r>
          </a:p>
        </p:txBody>
      </p:sp>
      <p:sp>
        <p:nvSpPr>
          <p:cNvPr id="4" name="Content Placeholder 3">
            <a:extLst>
              <a:ext uri="{FF2B5EF4-FFF2-40B4-BE49-F238E27FC236}">
                <a16:creationId xmlns:a16="http://schemas.microsoft.com/office/drawing/2014/main" id="{6C060922-9DAA-EBAC-2DAD-90E09315653D}"/>
              </a:ext>
            </a:extLst>
          </p:cNvPr>
          <p:cNvSpPr>
            <a:spLocks noGrp="1"/>
          </p:cNvSpPr>
          <p:nvPr>
            <p:ph idx="1"/>
          </p:nvPr>
        </p:nvSpPr>
        <p:spPr/>
        <p:txBody>
          <a:bodyPr/>
          <a:lstStyle/>
          <a:p>
            <a:pPr>
              <a:buFontTx/>
              <a:buChar char="-"/>
            </a:pPr>
            <a:r>
              <a:rPr lang="en-US" dirty="0"/>
              <a:t>Build a model using </a:t>
            </a:r>
            <a:r>
              <a:rPr lang="en-US" dirty="0" err="1"/>
              <a:t>sklearn</a:t>
            </a:r>
            <a:r>
              <a:rPr lang="en-US" dirty="0"/>
              <a:t> SVM</a:t>
            </a:r>
          </a:p>
          <a:p>
            <a:pPr>
              <a:buFontTx/>
              <a:buChar char="-"/>
            </a:pPr>
            <a:r>
              <a:rPr lang="en-US" dirty="0"/>
              <a:t>Use </a:t>
            </a:r>
            <a:r>
              <a:rPr lang="en-US" dirty="0" err="1"/>
              <a:t>GridSearchCV</a:t>
            </a:r>
            <a:r>
              <a:rPr lang="en-US" dirty="0"/>
              <a:t> to improve the accuracy </a:t>
            </a:r>
          </a:p>
          <a:p>
            <a:pPr marL="0" indent="0">
              <a:buNone/>
            </a:pPr>
            <a:r>
              <a:rPr lang="en-US" dirty="0"/>
              <a:t>- Test Accuracy: 86%</a:t>
            </a:r>
          </a:p>
        </p:txBody>
      </p:sp>
      <p:pic>
        <p:nvPicPr>
          <p:cNvPr id="5" name="Picture 4" descr="A screenshot of a graph&#10;&#10;AI-generated content may be incorrect.">
            <a:extLst>
              <a:ext uri="{FF2B5EF4-FFF2-40B4-BE49-F238E27FC236}">
                <a16:creationId xmlns:a16="http://schemas.microsoft.com/office/drawing/2014/main" id="{E1085857-78E4-D3ED-2A26-4640EA98A526}"/>
              </a:ext>
            </a:extLst>
          </p:cNvPr>
          <p:cNvPicPr>
            <a:picLocks noChangeAspect="1"/>
          </p:cNvPicPr>
          <p:nvPr/>
        </p:nvPicPr>
        <p:blipFill>
          <a:blip r:embed="rId2"/>
          <a:stretch>
            <a:fillRect/>
          </a:stretch>
        </p:blipFill>
        <p:spPr>
          <a:xfrm>
            <a:off x="5212081" y="2853258"/>
            <a:ext cx="5273039" cy="3458638"/>
          </a:xfrm>
          <a:prstGeom prst="rect">
            <a:avLst/>
          </a:prstGeom>
        </p:spPr>
      </p:pic>
    </p:spTree>
    <p:extLst>
      <p:ext uri="{BB962C8B-B14F-4D97-AF65-F5344CB8AC3E}">
        <p14:creationId xmlns:p14="http://schemas.microsoft.com/office/powerpoint/2010/main" val="2734673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AA923-2215-1065-88A3-233197EA3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9DD46-5A57-A78E-ADB7-9CB709BC754D}"/>
              </a:ext>
            </a:extLst>
          </p:cNvPr>
          <p:cNvSpPr>
            <a:spLocks noGrp="1"/>
          </p:cNvSpPr>
          <p:nvPr>
            <p:ph type="title"/>
          </p:nvPr>
        </p:nvSpPr>
        <p:spPr/>
        <p:txBody>
          <a:bodyPr/>
          <a:lstStyle/>
          <a:p>
            <a:r>
              <a:rPr lang="en-US" b="1" dirty="0"/>
              <a:t>2. Methods</a:t>
            </a:r>
            <a:br>
              <a:rPr lang="en-US" b="1" dirty="0"/>
            </a:br>
            <a:r>
              <a:rPr lang="en-US" sz="3200" b="1" dirty="0"/>
              <a:t>c. </a:t>
            </a:r>
            <a:r>
              <a:rPr lang="en-US" sz="3200" b="1" dirty="0" err="1"/>
              <a:t>MLPClassifier</a:t>
            </a:r>
            <a:endParaRPr lang="en-US" sz="3200" b="1" dirty="0"/>
          </a:p>
        </p:txBody>
      </p:sp>
      <p:sp>
        <p:nvSpPr>
          <p:cNvPr id="4" name="Content Placeholder 3">
            <a:extLst>
              <a:ext uri="{FF2B5EF4-FFF2-40B4-BE49-F238E27FC236}">
                <a16:creationId xmlns:a16="http://schemas.microsoft.com/office/drawing/2014/main" id="{99D78B9C-A505-54DC-DD24-F4D8A75E9144}"/>
              </a:ext>
            </a:extLst>
          </p:cNvPr>
          <p:cNvSpPr>
            <a:spLocks noGrp="1"/>
          </p:cNvSpPr>
          <p:nvPr>
            <p:ph idx="1"/>
          </p:nvPr>
        </p:nvSpPr>
        <p:spPr/>
        <p:txBody>
          <a:bodyPr/>
          <a:lstStyle/>
          <a:p>
            <a:pPr>
              <a:buFontTx/>
              <a:buChar char="-"/>
            </a:pPr>
            <a:r>
              <a:rPr lang="en-US" dirty="0"/>
              <a:t>Implement a Neural Network model using </a:t>
            </a:r>
            <a:r>
              <a:rPr lang="en-US" dirty="0" err="1"/>
              <a:t>sklearn's</a:t>
            </a:r>
            <a:r>
              <a:rPr lang="en-US" dirty="0"/>
              <a:t> </a:t>
            </a:r>
            <a:r>
              <a:rPr lang="en-US" dirty="0" err="1"/>
              <a:t>MLPClassifier</a:t>
            </a:r>
            <a:endParaRPr lang="en-US" dirty="0"/>
          </a:p>
          <a:p>
            <a:pPr>
              <a:buFontTx/>
              <a:buChar char="-"/>
            </a:pPr>
            <a:r>
              <a:rPr lang="en-US" dirty="0"/>
              <a:t>Apply </a:t>
            </a:r>
            <a:r>
              <a:rPr lang="en-US" dirty="0" err="1"/>
              <a:t>GridSearch</a:t>
            </a:r>
            <a:r>
              <a:rPr lang="en-US" dirty="0"/>
              <a:t> for hyperparameter tuning</a:t>
            </a:r>
          </a:p>
          <a:p>
            <a:pPr marL="0" indent="0">
              <a:buNone/>
            </a:pPr>
            <a:r>
              <a:rPr lang="en-US" dirty="0"/>
              <a:t>- Test Accuracy: 0.83</a:t>
            </a:r>
          </a:p>
        </p:txBody>
      </p:sp>
      <p:pic>
        <p:nvPicPr>
          <p:cNvPr id="5" name="Picture 4" descr="A diagram of a diagram&#10;&#10;AI-generated content may be incorrect.">
            <a:extLst>
              <a:ext uri="{FF2B5EF4-FFF2-40B4-BE49-F238E27FC236}">
                <a16:creationId xmlns:a16="http://schemas.microsoft.com/office/drawing/2014/main" id="{3F24C3E7-4486-67AE-F7A1-636257FEA2FF}"/>
              </a:ext>
            </a:extLst>
          </p:cNvPr>
          <p:cNvPicPr>
            <a:picLocks noChangeAspect="1"/>
          </p:cNvPicPr>
          <p:nvPr/>
        </p:nvPicPr>
        <p:blipFill>
          <a:blip r:embed="rId2"/>
          <a:stretch>
            <a:fillRect/>
          </a:stretch>
        </p:blipFill>
        <p:spPr>
          <a:xfrm>
            <a:off x="5516880" y="3129280"/>
            <a:ext cx="4358640" cy="3535680"/>
          </a:xfrm>
          <a:prstGeom prst="rect">
            <a:avLst/>
          </a:prstGeom>
        </p:spPr>
      </p:pic>
    </p:spTree>
    <p:extLst>
      <p:ext uri="{BB962C8B-B14F-4D97-AF65-F5344CB8AC3E}">
        <p14:creationId xmlns:p14="http://schemas.microsoft.com/office/powerpoint/2010/main" val="937001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FCA20-4B0E-FB30-4387-551CDD09A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E9FC1-37E3-D474-9F3C-9723A9094B5E}"/>
              </a:ext>
            </a:extLst>
          </p:cNvPr>
          <p:cNvSpPr>
            <a:spLocks noGrp="1"/>
          </p:cNvSpPr>
          <p:nvPr>
            <p:ph type="title"/>
          </p:nvPr>
        </p:nvSpPr>
        <p:spPr/>
        <p:txBody>
          <a:bodyPr/>
          <a:lstStyle/>
          <a:p>
            <a:r>
              <a:rPr lang="en-US" b="1" dirty="0"/>
              <a:t>2. Methods</a:t>
            </a:r>
            <a:br>
              <a:rPr lang="en-US" b="1" dirty="0"/>
            </a:br>
            <a:r>
              <a:rPr lang="en-US" sz="3200" b="1" dirty="0"/>
              <a:t>d. Multiple-layered </a:t>
            </a:r>
            <a:r>
              <a:rPr lang="en-US" sz="3200" b="1" dirty="0" err="1"/>
              <a:t>Tensorflow</a:t>
            </a:r>
            <a:r>
              <a:rPr lang="en-US" sz="3200" b="1" dirty="0"/>
              <a:t> </a:t>
            </a:r>
            <a:r>
              <a:rPr lang="en-US" sz="3200" b="1" dirty="0" err="1"/>
              <a:t>Keras</a:t>
            </a:r>
            <a:r>
              <a:rPr lang="en-US" sz="3200" b="1" dirty="0"/>
              <a:t> Neural Network</a:t>
            </a:r>
          </a:p>
        </p:txBody>
      </p:sp>
      <p:sp>
        <p:nvSpPr>
          <p:cNvPr id="4" name="Content Placeholder 3">
            <a:extLst>
              <a:ext uri="{FF2B5EF4-FFF2-40B4-BE49-F238E27FC236}">
                <a16:creationId xmlns:a16="http://schemas.microsoft.com/office/drawing/2014/main" id="{507F7600-CD3C-52C2-8F23-26297A5B0C00}"/>
              </a:ext>
            </a:extLst>
          </p:cNvPr>
          <p:cNvSpPr>
            <a:spLocks noGrp="1"/>
          </p:cNvSpPr>
          <p:nvPr>
            <p:ph idx="1"/>
          </p:nvPr>
        </p:nvSpPr>
        <p:spPr>
          <a:xfrm>
            <a:off x="477520" y="1825625"/>
            <a:ext cx="11511280" cy="4351338"/>
          </a:xfrm>
        </p:spPr>
        <p:txBody>
          <a:bodyPr/>
          <a:lstStyle/>
          <a:p>
            <a:pPr>
              <a:buFontTx/>
              <a:buChar char="-"/>
            </a:pPr>
            <a:r>
              <a:rPr lang="en-US" sz="2400" dirty="0"/>
              <a:t>Created a deep learning model with a validation split of 10%</a:t>
            </a:r>
          </a:p>
          <a:p>
            <a:pPr>
              <a:buFontTx/>
              <a:buChar char="-"/>
            </a:pPr>
            <a:r>
              <a:rPr lang="en-US" sz="2400" dirty="0"/>
              <a:t>Uses four dense layers (includes output), </a:t>
            </a:r>
            <a:r>
              <a:rPr lang="en-US" sz="2400" dirty="0" err="1"/>
              <a:t>relu</a:t>
            </a:r>
            <a:r>
              <a:rPr lang="en-US" sz="2400" dirty="0"/>
              <a:t> for the hidden, sigmoid for output</a:t>
            </a:r>
          </a:p>
          <a:p>
            <a:pPr>
              <a:buFontTx/>
              <a:buChar char="-"/>
            </a:pPr>
            <a:r>
              <a:rPr lang="en-US" sz="2400" dirty="0"/>
              <a:t>Uses two dropout layers placed after the first two layers</a:t>
            </a:r>
          </a:p>
          <a:p>
            <a:pPr marL="0" indent="0">
              <a:buNone/>
            </a:pPr>
            <a:r>
              <a:rPr lang="en-US" sz="2400" dirty="0"/>
              <a:t>- Test Accuracy: 88%, With a clear decrease in validation loss</a:t>
            </a:r>
          </a:p>
        </p:txBody>
      </p:sp>
      <p:pic>
        <p:nvPicPr>
          <p:cNvPr id="5" name="Picture 4" descr="A graph of a graph of a graph&#10;&#10;AI-generated content may be incorrect.">
            <a:extLst>
              <a:ext uri="{FF2B5EF4-FFF2-40B4-BE49-F238E27FC236}">
                <a16:creationId xmlns:a16="http://schemas.microsoft.com/office/drawing/2014/main" id="{03C465E8-64D3-D34F-C62E-D51196EBABFC}"/>
              </a:ext>
            </a:extLst>
          </p:cNvPr>
          <p:cNvPicPr>
            <a:picLocks noChangeAspect="1"/>
          </p:cNvPicPr>
          <p:nvPr/>
        </p:nvPicPr>
        <p:blipFill>
          <a:blip r:embed="rId2"/>
          <a:stretch>
            <a:fillRect/>
          </a:stretch>
        </p:blipFill>
        <p:spPr>
          <a:xfrm>
            <a:off x="355600" y="3855008"/>
            <a:ext cx="11277600" cy="3002992"/>
          </a:xfrm>
          <a:prstGeom prst="rect">
            <a:avLst/>
          </a:prstGeom>
        </p:spPr>
      </p:pic>
    </p:spTree>
    <p:extLst>
      <p:ext uri="{BB962C8B-B14F-4D97-AF65-F5344CB8AC3E}">
        <p14:creationId xmlns:p14="http://schemas.microsoft.com/office/powerpoint/2010/main" val="3381673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96818-9EBD-7904-4EDD-2902EFF1F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0BB63-D116-F353-926E-97EAFA7B9268}"/>
              </a:ext>
            </a:extLst>
          </p:cNvPr>
          <p:cNvSpPr>
            <a:spLocks noGrp="1"/>
          </p:cNvSpPr>
          <p:nvPr>
            <p:ph type="title"/>
          </p:nvPr>
        </p:nvSpPr>
        <p:spPr/>
        <p:txBody>
          <a:bodyPr/>
          <a:lstStyle/>
          <a:p>
            <a:r>
              <a:rPr lang="en-US" b="1" dirty="0"/>
              <a:t>3. Results</a:t>
            </a:r>
            <a:br>
              <a:rPr lang="en-US" b="1" dirty="0"/>
            </a:br>
            <a:r>
              <a:rPr lang="en-US" sz="3200" b="1" dirty="0"/>
              <a:t>a. Comparison</a:t>
            </a:r>
          </a:p>
        </p:txBody>
      </p:sp>
      <p:sp>
        <p:nvSpPr>
          <p:cNvPr id="6" name="TextBox 5">
            <a:extLst>
              <a:ext uri="{FF2B5EF4-FFF2-40B4-BE49-F238E27FC236}">
                <a16:creationId xmlns:a16="http://schemas.microsoft.com/office/drawing/2014/main" id="{B3ED194A-A93C-3EEC-19A3-9BC3DC4F4CB2}"/>
              </a:ext>
            </a:extLst>
          </p:cNvPr>
          <p:cNvSpPr txBox="1"/>
          <p:nvPr/>
        </p:nvSpPr>
        <p:spPr>
          <a:xfrm>
            <a:off x="7968342" y="2083584"/>
            <a:ext cx="4122058" cy="1292662"/>
          </a:xfrm>
          <a:prstGeom prst="rect">
            <a:avLst/>
          </a:prstGeom>
          <a:noFill/>
        </p:spPr>
        <p:txBody>
          <a:bodyPr wrap="square">
            <a:spAutoFit/>
          </a:bodyPr>
          <a:lstStyle/>
          <a:p>
            <a:pPr marL="285750" indent="-285750">
              <a:buFontTx/>
              <a:buChar char="-"/>
            </a:pPr>
            <a:r>
              <a:rPr lang="en-US" sz="2600" dirty="0">
                <a:effectLst/>
                <a:latin typeface="Aptos" panose="020B0004020202020204" pitchFamily="34" charset="0"/>
                <a:ea typeface="Aptos" panose="020B0004020202020204" pitchFamily="34" charset="0"/>
                <a:cs typeface="Times New Roman" panose="02020603050405020304" pitchFamily="18" charset="0"/>
              </a:rPr>
              <a:t>Clearly, the </a:t>
            </a:r>
            <a:r>
              <a:rPr lang="en-US" sz="2600" dirty="0" err="1">
                <a:effectLst/>
                <a:latin typeface="Aptos" panose="020B0004020202020204" pitchFamily="34" charset="0"/>
                <a:ea typeface="Aptos" panose="020B0004020202020204" pitchFamily="34" charset="0"/>
                <a:cs typeface="Times New Roman" panose="02020603050405020304" pitchFamily="18" charset="0"/>
              </a:rPr>
              <a:t>Keras</a:t>
            </a:r>
            <a:r>
              <a:rPr lang="en-US" sz="2600" dirty="0">
                <a:effectLst/>
                <a:latin typeface="Aptos" panose="020B0004020202020204" pitchFamily="34" charset="0"/>
                <a:ea typeface="Aptos" panose="020B0004020202020204" pitchFamily="34" charset="0"/>
                <a:cs typeface="Times New Roman" panose="02020603050405020304" pitchFamily="18" charset="0"/>
              </a:rPr>
              <a:t> multi-layered neural network gives the bes</a:t>
            </a:r>
            <a:r>
              <a:rPr lang="en-US" sz="2600" dirty="0">
                <a:latin typeface="Aptos" panose="020B0004020202020204" pitchFamily="34" charset="0"/>
                <a:ea typeface="Aptos" panose="020B0004020202020204" pitchFamily="34" charset="0"/>
                <a:cs typeface="Times New Roman" panose="02020603050405020304" pitchFamily="18" charset="0"/>
              </a:rPr>
              <a:t>t accuracy</a:t>
            </a:r>
            <a:endParaRPr lang="en-US" sz="26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Content Placeholder 6" descr="A graph showing a comparison of model test accraccies&#10;&#10;AI-generated content may be incorrect.">
            <a:extLst>
              <a:ext uri="{FF2B5EF4-FFF2-40B4-BE49-F238E27FC236}">
                <a16:creationId xmlns:a16="http://schemas.microsoft.com/office/drawing/2014/main" id="{67E00AEF-33A8-8C3E-9084-F4576C70A1EF}"/>
              </a:ext>
            </a:extLst>
          </p:cNvPr>
          <p:cNvPicPr>
            <a:picLocks noGrp="1" noChangeAspect="1"/>
          </p:cNvPicPr>
          <p:nvPr>
            <p:ph idx="1"/>
          </p:nvPr>
        </p:nvPicPr>
        <p:blipFill>
          <a:blip r:embed="rId2"/>
          <a:stretch>
            <a:fillRect/>
          </a:stretch>
        </p:blipFill>
        <p:spPr>
          <a:xfrm>
            <a:off x="292607" y="1690692"/>
            <a:ext cx="7589521" cy="4351338"/>
          </a:xfrm>
        </p:spPr>
      </p:pic>
    </p:spTree>
    <p:extLst>
      <p:ext uri="{BB962C8B-B14F-4D97-AF65-F5344CB8AC3E}">
        <p14:creationId xmlns:p14="http://schemas.microsoft.com/office/powerpoint/2010/main" val="2815752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ADD0D-E2CF-BF00-3F75-57D2B75A8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F5082-B76B-C7CA-B2A3-16081E3259B3}"/>
              </a:ext>
            </a:extLst>
          </p:cNvPr>
          <p:cNvSpPr>
            <a:spLocks noGrp="1"/>
          </p:cNvSpPr>
          <p:nvPr>
            <p:ph type="title"/>
          </p:nvPr>
        </p:nvSpPr>
        <p:spPr/>
        <p:txBody>
          <a:bodyPr/>
          <a:lstStyle/>
          <a:p>
            <a:r>
              <a:rPr lang="en-US" b="1" dirty="0"/>
              <a:t>3. Results</a:t>
            </a:r>
            <a:br>
              <a:rPr lang="en-US" b="1" dirty="0"/>
            </a:br>
            <a:r>
              <a:rPr lang="en-US" sz="3200" b="1" dirty="0"/>
              <a:t>b. Most Important Features</a:t>
            </a:r>
          </a:p>
        </p:txBody>
      </p:sp>
      <p:pic>
        <p:nvPicPr>
          <p:cNvPr id="4" name="Picture 3" descr="A graph of a number of data&#10;&#10;AI-generated content may be incorrect.">
            <a:extLst>
              <a:ext uri="{FF2B5EF4-FFF2-40B4-BE49-F238E27FC236}">
                <a16:creationId xmlns:a16="http://schemas.microsoft.com/office/drawing/2014/main" id="{251DD0EA-397D-328C-EC4B-9A014ABADC0C}"/>
              </a:ext>
            </a:extLst>
          </p:cNvPr>
          <p:cNvPicPr>
            <a:picLocks noChangeAspect="1"/>
          </p:cNvPicPr>
          <p:nvPr/>
        </p:nvPicPr>
        <p:blipFill>
          <a:blip r:embed="rId2"/>
          <a:stretch>
            <a:fillRect/>
          </a:stretch>
        </p:blipFill>
        <p:spPr>
          <a:xfrm>
            <a:off x="1609344" y="1545336"/>
            <a:ext cx="8778241" cy="4809242"/>
          </a:xfrm>
          <a:prstGeom prst="rect">
            <a:avLst/>
          </a:prstGeom>
        </p:spPr>
      </p:pic>
    </p:spTree>
    <p:extLst>
      <p:ext uri="{BB962C8B-B14F-4D97-AF65-F5344CB8AC3E}">
        <p14:creationId xmlns:p14="http://schemas.microsoft.com/office/powerpoint/2010/main" val="1609008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F66CC-4AD1-E964-3469-368F097BEEB2}"/>
              </a:ext>
            </a:extLst>
          </p:cNvPr>
          <p:cNvSpPr>
            <a:spLocks noGrp="1"/>
          </p:cNvSpPr>
          <p:nvPr>
            <p:ph type="title"/>
          </p:nvPr>
        </p:nvSpPr>
        <p:spPr/>
        <p:txBody>
          <a:bodyPr/>
          <a:lstStyle/>
          <a:p>
            <a:r>
              <a:rPr lang="en-US" dirty="0"/>
              <a:t>4. Conclusion</a:t>
            </a:r>
          </a:p>
        </p:txBody>
      </p:sp>
      <p:sp>
        <p:nvSpPr>
          <p:cNvPr id="3" name="Content Placeholder 2">
            <a:extLst>
              <a:ext uri="{FF2B5EF4-FFF2-40B4-BE49-F238E27FC236}">
                <a16:creationId xmlns:a16="http://schemas.microsoft.com/office/drawing/2014/main" id="{AD6F2632-46C4-B8DC-F71A-6AF810385194}"/>
              </a:ext>
            </a:extLst>
          </p:cNvPr>
          <p:cNvSpPr>
            <a:spLocks noGrp="1"/>
          </p:cNvSpPr>
          <p:nvPr>
            <p:ph idx="1"/>
          </p:nvPr>
        </p:nvSpPr>
        <p:spPr>
          <a:xfrm>
            <a:off x="838200" y="1523872"/>
            <a:ext cx="10811256" cy="4831208"/>
          </a:xfrm>
        </p:spPr>
        <p:txBody>
          <a:bodyPr/>
          <a:lstStyle/>
          <a:p>
            <a:pPr marL="0" indent="0">
              <a:buNone/>
            </a:pPr>
            <a:r>
              <a:rPr lang="en-US" dirty="0"/>
              <a:t>-There is now a model that can predict whether a student will become a dropout or academically succeed with 88% accuracy </a:t>
            </a:r>
          </a:p>
          <a:p>
            <a:pPr marL="0" indent="0">
              <a:buNone/>
            </a:pPr>
            <a:endParaRPr lang="en-US" dirty="0"/>
          </a:p>
          <a:p>
            <a:pPr marL="0" indent="0">
              <a:buNone/>
            </a:pPr>
            <a:r>
              <a:rPr lang="en-US" dirty="0"/>
              <a:t>-By using permutation importance, the model has found the most important elements when it comes to academic success </a:t>
            </a:r>
          </a:p>
          <a:p>
            <a:pPr marL="0" indent="0">
              <a:buNone/>
            </a:pPr>
            <a:endParaRPr lang="en-US" dirty="0"/>
          </a:p>
          <a:p>
            <a:pPr marL="0" indent="0">
              <a:buNone/>
            </a:pPr>
            <a:r>
              <a:rPr lang="en-US" dirty="0"/>
              <a:t>-In no way is the importance of the features the end-all and be-all; there are many unique circumstances. The purpose of this project is to identify areas where students are likely to drop out, so that those students can attempt to steer themselves back onto the path of academic success.  </a:t>
            </a:r>
          </a:p>
          <a:p>
            <a:pPr marL="0" indent="0">
              <a:buNone/>
            </a:pPr>
            <a:endParaRPr lang="en-US" dirty="0"/>
          </a:p>
        </p:txBody>
      </p:sp>
    </p:spTree>
    <p:extLst>
      <p:ext uri="{BB962C8B-B14F-4D97-AF65-F5344CB8AC3E}">
        <p14:creationId xmlns:p14="http://schemas.microsoft.com/office/powerpoint/2010/main" val="1539150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3D72-448B-43D3-3437-C45040CF5F90}"/>
              </a:ext>
            </a:extLst>
          </p:cNvPr>
          <p:cNvSpPr>
            <a:spLocks noGrp="1"/>
          </p:cNvSpPr>
          <p:nvPr>
            <p:ph type="title"/>
          </p:nvPr>
        </p:nvSpPr>
        <p:spPr/>
        <p:txBody>
          <a:bodyPr/>
          <a:lstStyle/>
          <a:p>
            <a:r>
              <a:rPr lang="en-US" dirty="0"/>
              <a:t>Future Direction</a:t>
            </a:r>
          </a:p>
        </p:txBody>
      </p:sp>
      <p:sp>
        <p:nvSpPr>
          <p:cNvPr id="3" name="Content Placeholder 2">
            <a:extLst>
              <a:ext uri="{FF2B5EF4-FFF2-40B4-BE49-F238E27FC236}">
                <a16:creationId xmlns:a16="http://schemas.microsoft.com/office/drawing/2014/main" id="{23889B48-419C-ADAA-0D69-A6B961FA4A30}"/>
              </a:ext>
            </a:extLst>
          </p:cNvPr>
          <p:cNvSpPr>
            <a:spLocks noGrp="1"/>
          </p:cNvSpPr>
          <p:nvPr>
            <p:ph idx="1"/>
          </p:nvPr>
        </p:nvSpPr>
        <p:spPr/>
        <p:txBody>
          <a:bodyPr/>
          <a:lstStyle/>
          <a:p>
            <a:pPr marL="0" indent="0">
              <a:buNone/>
            </a:pPr>
            <a:r>
              <a:rPr lang="en-US" dirty="0"/>
              <a:t>-Get a larger dataset to draw from, over 4000 is good, but more can hopefully give a better variety and overall accuracy for general higher education</a:t>
            </a:r>
          </a:p>
          <a:p>
            <a:pPr marL="0" indent="0">
              <a:buNone/>
            </a:pPr>
            <a:endParaRPr lang="en-US" dirty="0"/>
          </a:p>
          <a:p>
            <a:pPr marL="0" indent="0">
              <a:buNone/>
            </a:pPr>
            <a:r>
              <a:rPr lang="en-US" dirty="0"/>
              <a:t>-Add more features to the dataset, more topical ones like AI use</a:t>
            </a:r>
          </a:p>
          <a:p>
            <a:pPr marL="0" indent="0">
              <a:buNone/>
            </a:pPr>
            <a:endParaRPr lang="en-US" dirty="0"/>
          </a:p>
          <a:p>
            <a:pPr marL="0" indent="0">
              <a:buNone/>
            </a:pPr>
            <a:r>
              <a:rPr lang="en-US" dirty="0"/>
              <a:t>-Explore even more options with models, whether in depth or a different type of model altogether</a:t>
            </a:r>
          </a:p>
        </p:txBody>
      </p:sp>
    </p:spTree>
    <p:extLst>
      <p:ext uri="{BB962C8B-B14F-4D97-AF65-F5344CB8AC3E}">
        <p14:creationId xmlns:p14="http://schemas.microsoft.com/office/powerpoint/2010/main" val="2248534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D5F1F-8BC8-280C-8811-EDC0DDFFA3D7}"/>
              </a:ext>
            </a:extLst>
          </p:cNvPr>
          <p:cNvSpPr>
            <a:spLocks noGrp="1"/>
          </p:cNvSpPr>
          <p:nvPr>
            <p:ph type="title"/>
          </p:nvPr>
        </p:nvSpPr>
        <p:spPr/>
        <p:txBody>
          <a:bodyPr/>
          <a:lstStyle/>
          <a:p>
            <a:r>
              <a:rPr lang="en-US" dirty="0"/>
              <a:t>Acknowledgements</a:t>
            </a:r>
          </a:p>
        </p:txBody>
      </p:sp>
      <p:sp>
        <p:nvSpPr>
          <p:cNvPr id="3" name="Content Placeholder 2">
            <a:extLst>
              <a:ext uri="{FF2B5EF4-FFF2-40B4-BE49-F238E27FC236}">
                <a16:creationId xmlns:a16="http://schemas.microsoft.com/office/drawing/2014/main" id="{12673175-2E61-833E-2E83-BE95EC5B81BF}"/>
              </a:ext>
            </a:extLst>
          </p:cNvPr>
          <p:cNvSpPr>
            <a:spLocks noGrp="1"/>
          </p:cNvSpPr>
          <p:nvPr>
            <p:ph idx="1"/>
          </p:nvPr>
        </p:nvSpPr>
        <p:spPr/>
        <p:txBody>
          <a:bodyPr/>
          <a:lstStyle/>
          <a:p>
            <a:pPr marL="0" indent="0">
              <a:buNone/>
            </a:pPr>
            <a:r>
              <a:rPr lang="en-US" dirty="0"/>
              <a:t>This is the citation for the dataset used:</a:t>
            </a:r>
          </a:p>
          <a:p>
            <a:pPr marL="0" indent="0">
              <a:buNone/>
            </a:pPr>
            <a:r>
              <a:rPr lang="en-US" dirty="0" err="1"/>
              <a:t>M.V.Martins</a:t>
            </a:r>
            <a:r>
              <a:rPr lang="en-US" dirty="0"/>
              <a:t>, D. </a:t>
            </a:r>
            <a:r>
              <a:rPr lang="en-US" dirty="0" err="1"/>
              <a:t>Tolledo</a:t>
            </a:r>
            <a:r>
              <a:rPr lang="en-US" dirty="0"/>
              <a:t>, J. Machado, L. M.T. Baptista, </a:t>
            </a:r>
            <a:r>
              <a:rPr lang="en-US" dirty="0" err="1"/>
              <a:t>V.Realinho</a:t>
            </a:r>
            <a:r>
              <a:rPr lang="en-US" dirty="0"/>
              <a:t>. (2021) "Early prediction of student’s performance in higher education: a case study" Trends and Applications in Information Systems and Technologies, vol.1, in Advances in Intelligent Systems and Computing series. Springer. DOI: 10.1007/978-3-030-72657-7_16</a:t>
            </a:r>
          </a:p>
          <a:p>
            <a:pPr marL="0" indent="0">
              <a:buNone/>
            </a:pPr>
            <a:endParaRPr lang="en-US" dirty="0"/>
          </a:p>
        </p:txBody>
      </p:sp>
    </p:spTree>
    <p:extLst>
      <p:ext uri="{BB962C8B-B14F-4D97-AF65-F5344CB8AC3E}">
        <p14:creationId xmlns:p14="http://schemas.microsoft.com/office/powerpoint/2010/main" val="14561301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sm-template--red-line--2022-16x9" id="{59E6B659-1BF0-C045-908C-7BB0F279CF66}" vid="{B30B832C-B9EE-354A-912D-860CA6D30F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nsm-template--red-line--16x9</Template>
  <TotalTime>448</TotalTime>
  <Words>604</Words>
  <Application>Microsoft Office PowerPoint</Application>
  <PresentationFormat>Widescreen</PresentationFormat>
  <Paragraphs>66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Calibri Light</vt:lpstr>
      <vt:lpstr>Trebuchet MS</vt:lpstr>
      <vt:lpstr>Office Theme</vt:lpstr>
      <vt:lpstr>DATA SCIENCE PROJECT PREDICT STUDENTS’ DROPOUT AND ACADEMIC SUCCESS</vt:lpstr>
      <vt:lpstr>CONTENTS</vt:lpstr>
      <vt:lpstr>1. Introduction a. Objectives</vt:lpstr>
      <vt:lpstr>1. Introduction a. Objectives</vt:lpstr>
      <vt:lpstr>1. Introduction b. About the Dataset</vt:lpstr>
      <vt:lpstr>2. Methods a. Data Processing</vt:lpstr>
      <vt:lpstr>2. Methods b. SVM</vt:lpstr>
      <vt:lpstr>2. Methods c. MLPClassifier</vt:lpstr>
      <vt:lpstr>2. Methods d. Multiple-layered Tensorflow Keras Neural Network</vt:lpstr>
      <vt:lpstr>3. Results a. Comparison</vt:lpstr>
      <vt:lpstr>3. Results b. Most Important Features</vt:lpstr>
      <vt:lpstr>4. Conclusion</vt:lpstr>
      <vt:lpstr>Future Direction</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Bui, Hoang Minh</dc:creator>
  <cp:lastModifiedBy>Caden Carrier-Rieger</cp:lastModifiedBy>
  <cp:revision>7</cp:revision>
  <dcterms:created xsi:type="dcterms:W3CDTF">2025-11-09T20:23:08Z</dcterms:created>
  <dcterms:modified xsi:type="dcterms:W3CDTF">2025-11-30T05:00:52Z</dcterms:modified>
</cp:coreProperties>
</file>